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C40E17-CA3F-4CCA-BF1D-7DC687994102}" v="25" dt="2026-10-20T02:09:36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mise Quainoo" userId="6950709bb93cd3c0" providerId="LiveId" clId="{663E435A-E408-451F-905A-A6C56E2E89C2}"/>
    <pc:docChg chg="modSld">
      <pc:chgData name="Promise Quainoo" userId="6950709bb93cd3c0" providerId="LiveId" clId="{663E435A-E408-451F-905A-A6C56E2E89C2}" dt="2026-10-20T02:09:36.526" v="25"/>
      <pc:docMkLst>
        <pc:docMk/>
      </pc:docMkLst>
      <pc:sldChg chg="addSp modSp">
        <pc:chgData name="Promise Quainoo" userId="6950709bb93cd3c0" providerId="LiveId" clId="{663E435A-E408-451F-905A-A6C56E2E89C2}" dt="2026-10-20T01:34:55.149" v="1"/>
        <pc:sldMkLst>
          <pc:docMk/>
          <pc:sldMk cId="3730138496" sldId="261"/>
        </pc:sldMkLst>
        <pc:spChg chg="add mod">
          <ac:chgData name="Promise Quainoo" userId="6950709bb93cd3c0" providerId="LiveId" clId="{663E435A-E408-451F-905A-A6C56E2E89C2}" dt="2026-10-20T01:34:55.149" v="1"/>
          <ac:spMkLst>
            <pc:docMk/>
            <pc:sldMk cId="3730138496" sldId="261"/>
            <ac:spMk id="6" creationId="{BF10E6A8-4387-5B6D-E06D-A637434C6C59}"/>
          </ac:spMkLst>
        </pc:spChg>
      </pc:sldChg>
      <pc:sldChg chg="addSp modSp">
        <pc:chgData name="Promise Quainoo" userId="6950709bb93cd3c0" providerId="LiveId" clId="{663E435A-E408-451F-905A-A6C56E2E89C2}" dt="2026-10-20T01:40:21.587" v="3"/>
        <pc:sldMkLst>
          <pc:docMk/>
          <pc:sldMk cId="729637580" sldId="262"/>
        </pc:sldMkLst>
        <pc:spChg chg="add mod">
          <ac:chgData name="Promise Quainoo" userId="6950709bb93cd3c0" providerId="LiveId" clId="{663E435A-E408-451F-905A-A6C56E2E89C2}" dt="2026-10-20T01:40:21.587" v="3"/>
          <ac:spMkLst>
            <pc:docMk/>
            <pc:sldMk cId="729637580" sldId="262"/>
            <ac:spMk id="6" creationId="{2E4DFAA2-9B0E-173F-23B0-C8D190871B1C}"/>
          </ac:spMkLst>
        </pc:spChg>
      </pc:sldChg>
      <pc:sldChg chg="addSp modSp">
        <pc:chgData name="Promise Quainoo" userId="6950709bb93cd3c0" providerId="LiveId" clId="{663E435A-E408-451F-905A-A6C56E2E89C2}" dt="2026-10-20T01:55:04.181" v="12"/>
        <pc:sldMkLst>
          <pc:docMk/>
          <pc:sldMk cId="355853121" sldId="263"/>
        </pc:sldMkLst>
        <pc:spChg chg="mod">
          <ac:chgData name="Promise Quainoo" userId="6950709bb93cd3c0" providerId="LiveId" clId="{663E435A-E408-451F-905A-A6C56E2E89C2}" dt="2026-10-20T01:55:04.181" v="12"/>
          <ac:spMkLst>
            <pc:docMk/>
            <pc:sldMk cId="355853121" sldId="263"/>
            <ac:spMk id="2" creationId="{3804E510-217E-040E-47C2-DB86D31B0752}"/>
          </ac:spMkLst>
        </pc:spChg>
        <pc:spChg chg="mod">
          <ac:chgData name="Promise Quainoo" userId="6950709bb93cd3c0" providerId="LiveId" clId="{663E435A-E408-451F-905A-A6C56E2E89C2}" dt="2026-10-20T01:52:28.965" v="11"/>
          <ac:spMkLst>
            <pc:docMk/>
            <pc:sldMk cId="355853121" sldId="263"/>
            <ac:spMk id="3" creationId="{633B3465-8185-B2C1-0BF3-97E865678EA8}"/>
          </ac:spMkLst>
        </pc:spChg>
        <pc:spChg chg="add mod">
          <ac:chgData name="Promise Quainoo" userId="6950709bb93cd3c0" providerId="LiveId" clId="{663E435A-E408-451F-905A-A6C56E2E89C2}" dt="2026-10-20T01:51:45.798" v="9" actId="767"/>
          <ac:spMkLst>
            <pc:docMk/>
            <pc:sldMk cId="355853121" sldId="263"/>
            <ac:spMk id="6" creationId="{E8127577-4F62-CE48-2CC8-DDBFAE547FE7}"/>
          </ac:spMkLst>
        </pc:spChg>
        <pc:spChg chg="add mod">
          <ac:chgData name="Promise Quainoo" userId="6950709bb93cd3c0" providerId="LiveId" clId="{663E435A-E408-451F-905A-A6C56E2E89C2}" dt="2026-10-20T01:51:42.330" v="7" actId="767"/>
          <ac:spMkLst>
            <pc:docMk/>
            <pc:sldMk cId="355853121" sldId="263"/>
            <ac:spMk id="7" creationId="{A7329C77-A72D-C2BE-C915-192907197AEA}"/>
          </ac:spMkLst>
        </pc:spChg>
      </pc:sldChg>
      <pc:sldChg chg="modSp">
        <pc:chgData name="Promise Quainoo" userId="6950709bb93cd3c0" providerId="LiveId" clId="{663E435A-E408-451F-905A-A6C56E2E89C2}" dt="2026-10-20T01:59:15.505" v="17"/>
        <pc:sldMkLst>
          <pc:docMk/>
          <pc:sldMk cId="1391911451" sldId="264"/>
        </pc:sldMkLst>
        <pc:spChg chg="mod">
          <ac:chgData name="Promise Quainoo" userId="6950709bb93cd3c0" providerId="LiveId" clId="{663E435A-E408-451F-905A-A6C56E2E89C2}" dt="2026-10-20T01:59:15.505" v="17"/>
          <ac:spMkLst>
            <pc:docMk/>
            <pc:sldMk cId="1391911451" sldId="264"/>
            <ac:spMk id="3" creationId="{7A11FC9B-D63F-8FDB-6F54-5E42D490C780}"/>
          </ac:spMkLst>
        </pc:spChg>
      </pc:sldChg>
      <pc:sldChg chg="modSp">
        <pc:chgData name="Promise Quainoo" userId="6950709bb93cd3c0" providerId="LiveId" clId="{663E435A-E408-451F-905A-A6C56E2E89C2}" dt="2026-10-20T02:01:16.442" v="18"/>
        <pc:sldMkLst>
          <pc:docMk/>
          <pc:sldMk cId="4127133975" sldId="265"/>
        </pc:sldMkLst>
        <pc:spChg chg="mod">
          <ac:chgData name="Promise Quainoo" userId="6950709bb93cd3c0" providerId="LiveId" clId="{663E435A-E408-451F-905A-A6C56E2E89C2}" dt="2026-10-20T02:01:16.442" v="18"/>
          <ac:spMkLst>
            <pc:docMk/>
            <pc:sldMk cId="4127133975" sldId="265"/>
            <ac:spMk id="3" creationId="{1F146AEA-95EE-A88E-03D4-C9CAF4A3506F}"/>
          </ac:spMkLst>
        </pc:spChg>
      </pc:sldChg>
      <pc:sldChg chg="addSp delSp modSp">
        <pc:chgData name="Promise Quainoo" userId="6950709bb93cd3c0" providerId="LiveId" clId="{663E435A-E408-451F-905A-A6C56E2E89C2}" dt="2026-10-20T02:09:36.526" v="25"/>
        <pc:sldMkLst>
          <pc:docMk/>
          <pc:sldMk cId="1593866008" sldId="266"/>
        </pc:sldMkLst>
        <pc:spChg chg="add del mod">
          <ac:chgData name="Promise Quainoo" userId="6950709bb93cd3c0" providerId="LiveId" clId="{663E435A-E408-451F-905A-A6C56E2E89C2}" dt="2026-10-20T02:02:53.786" v="20"/>
          <ac:spMkLst>
            <pc:docMk/>
            <pc:sldMk cId="1593866008" sldId="266"/>
            <ac:spMk id="2" creationId="{FAEE9501-8557-2307-B356-14E5AA273F5D}"/>
          </ac:spMkLst>
        </pc:spChg>
        <pc:spChg chg="add mod">
          <ac:chgData name="Promise Quainoo" userId="6950709bb93cd3c0" providerId="LiveId" clId="{663E435A-E408-451F-905A-A6C56E2E89C2}" dt="2026-10-20T02:09:36.526" v="25"/>
          <ac:spMkLst>
            <pc:docMk/>
            <pc:sldMk cId="1593866008" sldId="266"/>
            <ac:spMk id="3" creationId="{EC9A68BC-4FD6-D5AF-9544-114B37E3F45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857F3-73F1-4B14-9ACD-4761CB668AE8}" type="datetimeFigureOut">
              <a:rPr lang="en-GH" smtClean="0"/>
              <a:t>19/10/2026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D9A-34AE-46BF-988B-79F9D1AE55D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39260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27D9A-34AE-46BF-988B-79F9D1AE55D0}" type="slidenum">
              <a:rPr lang="en-GH" smtClean="0"/>
              <a:t>5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007707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27D9A-34AE-46BF-988B-79F9D1AE55D0}" type="slidenum">
              <a:rPr lang="en-GH" smtClean="0"/>
              <a:t>6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832906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3435-4A7B-542B-64E0-F663782EC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70E9D-3992-2A8E-AC51-75B2071F0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67290-8D33-944F-79C8-DFA798CAB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8F4D-94A3-4C3B-A698-B66C0FF9F91A}" type="datetimeFigureOut">
              <a:rPr lang="en-GH" smtClean="0"/>
              <a:t>19/10/2026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FCFCD-17E8-DB6D-18BC-48B83DE3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1A4C6-FBDE-1640-1CE4-3F1EA62B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2728-6963-4B6D-BFD9-E1DD8D49F36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838797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F4FA-7E9D-B03C-963D-C5A221247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FF057-F962-9217-EEF2-5D3D1023C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D9980-8259-1F64-4625-597C9D1A2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8F4D-94A3-4C3B-A698-B66C0FF9F91A}" type="datetimeFigureOut">
              <a:rPr lang="en-GH" smtClean="0"/>
              <a:t>19/10/2026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668E1-9B74-2870-632A-7DB5F575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00C98-370C-85BE-A0B8-F455676F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2728-6963-4B6D-BFD9-E1DD8D49F36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88755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EBE1-49D2-DD34-7F45-87E989C76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D2C76-6E47-7BF0-7D15-2CA46CA8D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A335C-95DA-16AF-E1BE-5244F78D8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8F4D-94A3-4C3B-A698-B66C0FF9F91A}" type="datetimeFigureOut">
              <a:rPr lang="en-GH" smtClean="0"/>
              <a:t>19/10/2026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84E8F-E2E2-1AB0-A011-B02A1DE1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B61B2-D17B-314C-FBC8-0162D60D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2728-6963-4B6D-BFD9-E1DD8D49F36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622558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86A72-DC62-C491-56E1-785564C7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DB1DA-6189-45C9-E581-9EE75A85C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BE1AC-8225-DDDD-B416-2D836F96A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CFD7C-5915-2FD0-CEE3-2FD5BD01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8F4D-94A3-4C3B-A698-B66C0FF9F91A}" type="datetimeFigureOut">
              <a:rPr lang="en-GH" smtClean="0"/>
              <a:t>19/10/2026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BEF39-EEB1-2005-E5C8-6E8CC1BBD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8534-1A87-0FC3-508F-4BA76994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2728-6963-4B6D-BFD9-E1DD8D49F36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61790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EA230-514A-39C4-F201-071BA45A4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1FB09-1A03-D179-542A-5D89E7454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13D92-DF2B-57DE-6C92-9F258C155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A67342-C7CB-CAE8-FCF3-D6807488E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39E73-1397-740C-8C79-1AE1960CB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C1305D-477E-416C-D552-B709316F8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8F4D-94A3-4C3B-A698-B66C0FF9F91A}" type="datetimeFigureOut">
              <a:rPr lang="en-GH" smtClean="0"/>
              <a:t>19/10/2026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AF7C8C-1899-0BDE-C146-41DF761E6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977E5-55F4-2826-ADE7-13AFBC822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2728-6963-4B6D-BFD9-E1DD8D49F36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37708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AA1C5-F1F0-4CFF-D499-3C076882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D160A5-9F86-8534-7D5B-B88F9419E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8F4D-94A3-4C3B-A698-B66C0FF9F91A}" type="datetimeFigureOut">
              <a:rPr lang="en-GH" smtClean="0"/>
              <a:t>19/10/2026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5EF26-9112-40A5-9628-FB9D267B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C5446-7191-8EEF-791C-AA953D2B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2728-6963-4B6D-BFD9-E1DD8D49F36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068795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92CF37-EC5E-C901-A091-0BD904CE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8F4D-94A3-4C3B-A698-B66C0FF9F91A}" type="datetimeFigureOut">
              <a:rPr lang="en-GH" smtClean="0"/>
              <a:t>19/10/2026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16889-F88F-3790-9827-B980AAAD5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2EC0D-D1A8-9374-FE3E-D633BC038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2728-6963-4B6D-BFD9-E1DD8D49F36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596564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4630-3824-D16C-F1B8-EC3D8523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7EEFF-2CD5-18FE-08A2-12C4888A7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9465C-BAD5-430A-A5C1-C5356A4E1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3A802-5387-742D-8119-F8D0EE72B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8F4D-94A3-4C3B-A698-B66C0FF9F91A}" type="datetimeFigureOut">
              <a:rPr lang="en-GH" smtClean="0"/>
              <a:t>19/10/2026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4523F-49BA-2367-5690-3874A6F6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82A68-A47D-217D-7006-D0DF9F71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2728-6963-4B6D-BFD9-E1DD8D49F36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5570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FE25-00C6-7A0B-CBF0-EB41278A1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9B0C34-CBFE-FD18-0EDF-9CC03CDE6A6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0AE69-56BC-7511-D51D-6C3EF4E7D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68538-8BA1-1B12-B6B0-3549B754E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8F4D-94A3-4C3B-A698-B66C0FF9F91A}" type="datetimeFigureOut">
              <a:rPr lang="en-GH" smtClean="0"/>
              <a:t>19/10/2026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8C213-511E-2AD0-467B-FA1B2421A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08CCD-178A-F339-DF45-1237F237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2728-6963-4B6D-BFD9-E1DD8D49F36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52178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36E4-A955-BCFB-DF78-11EF4AD9A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6E835-710C-D4D7-871A-C665054A2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85292-4FFB-3283-65D7-7D3B3B403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8F4D-94A3-4C3B-A698-B66C0FF9F91A}" type="datetimeFigureOut">
              <a:rPr lang="en-GH" smtClean="0"/>
              <a:t>19/10/2026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90882-F3B7-329C-0178-1BE3702C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F714A-9CE1-BD28-D53A-AF186BA0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2728-6963-4B6D-BFD9-E1DD8D49F36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968427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4720B0-E80E-1691-F99B-2319D12BE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D67A68-FB95-9A15-4420-00A5AA93C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7D91C-76CC-5BBC-E281-4D1914ED7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8F4D-94A3-4C3B-A698-B66C0FF9F91A}" type="datetimeFigureOut">
              <a:rPr lang="en-GH" smtClean="0"/>
              <a:t>19/10/2026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A5636-251D-3628-4050-94940AE2F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D6E48-7E2A-2451-5EBE-4C9D781BB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2728-6963-4B6D-BFD9-E1DD8D49F36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493112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8E19E5-8F9B-E7BE-F9FF-BB2F23BC7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3AE45-EEA5-54F7-940E-70039EE2F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66E2D-9EB5-388A-7CFC-2DB3BA392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6A8F4D-94A3-4C3B-A698-B66C0FF9F91A}" type="datetimeFigureOut">
              <a:rPr lang="en-GH" smtClean="0"/>
              <a:t>19/10/2026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8522E-7DFD-AC8E-1D5E-F647CCD2F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886AC-A7C6-E6BF-7BEE-DD253D573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912728-6963-4B6D-BFD9-E1DD8D49F36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79270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3F65-48DB-B57C-FD3F-C7299281AD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ONLINE RETAIL DATA ANALYSIS.</a:t>
            </a:r>
            <a:endParaRPr lang="en-G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D252D-6104-8CCE-CB44-93C65D77C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33291"/>
          </a:xfrm>
        </p:spPr>
        <p:txBody>
          <a:bodyPr>
            <a:normAutofit lnSpcReduction="10000"/>
          </a:bodyPr>
          <a:lstStyle/>
          <a:p>
            <a:r>
              <a:rPr lang="en-GB" b="1" i="1" dirty="0"/>
              <a:t>Business Insights from E-Commerce Transaction Data</a:t>
            </a:r>
          </a:p>
          <a:p>
            <a:endParaRPr lang="en-GB" dirty="0"/>
          </a:p>
          <a:p>
            <a:r>
              <a:rPr lang="en-GB" b="1" dirty="0"/>
              <a:t>Prepared for</a:t>
            </a:r>
            <a:r>
              <a:rPr lang="en-GB" dirty="0"/>
              <a:t>: </a:t>
            </a:r>
            <a:r>
              <a:rPr lang="en-GB" dirty="0" err="1"/>
              <a:t>AnalystLab</a:t>
            </a:r>
            <a:r>
              <a:rPr lang="en-GB" dirty="0"/>
              <a:t> Africa Data Analytics Internship Program.</a:t>
            </a:r>
          </a:p>
          <a:p>
            <a:r>
              <a:rPr lang="en-GB" b="1" dirty="0"/>
              <a:t>Tools Used: </a:t>
            </a:r>
            <a:r>
              <a:rPr lang="en-GB" dirty="0"/>
              <a:t>Python(Pandas), SQL, and Microsoft PowerPoint.</a:t>
            </a:r>
          </a:p>
          <a:p>
            <a:r>
              <a:rPr lang="en-GB" b="1" dirty="0"/>
              <a:t>Project Focus: </a:t>
            </a:r>
            <a:r>
              <a:rPr lang="en-GB" dirty="0"/>
              <a:t>Data Cleaning, Exploratory Data Analysis, and Business Insights.</a:t>
            </a:r>
          </a:p>
          <a:p>
            <a:endParaRPr lang="en-GB" dirty="0"/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300289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FE15B-E8FF-FA47-89E4-4DE2105F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OVERVIEW AND OBJECTIVES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32038-F913-660A-C78F-6E650B8BE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This project analyses online retail transaction data to understand sales performance, customer purchasing behaviour, and product performance. Python and SQL were used to clean, analyse, and validate the dataset.</a:t>
            </a:r>
          </a:p>
          <a:p>
            <a:pPr marL="0" indent="0">
              <a:buNone/>
            </a:pPr>
            <a:r>
              <a:rPr lang="en-GB" sz="2000" b="1" i="1" dirty="0"/>
              <a:t>Project Objectives</a:t>
            </a:r>
          </a:p>
          <a:p>
            <a:r>
              <a:rPr lang="en-GB" sz="2000" dirty="0"/>
              <a:t>Clean and prepare the raw transaction data for analysis.</a:t>
            </a:r>
          </a:p>
          <a:p>
            <a:r>
              <a:rPr lang="en-GB" sz="2000" dirty="0"/>
              <a:t>Identify sales trends and monthly growth patterns.</a:t>
            </a:r>
          </a:p>
          <a:p>
            <a:r>
              <a:rPr lang="en-GB" sz="2000" dirty="0"/>
              <a:t>Determine the top-performing products and countries.</a:t>
            </a:r>
          </a:p>
          <a:p>
            <a:r>
              <a:rPr lang="en-GB" sz="2000" dirty="0"/>
              <a:t>Calculate average order values and investigate unusually high-value invoices.</a:t>
            </a:r>
          </a:p>
          <a:p>
            <a:r>
              <a:rPr lang="en-GB" sz="2000" dirty="0"/>
              <a:t>Generate actionable business insights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12406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E4A29-4297-98E9-3E72-57BE149A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OVERVIEW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FAA9F-138C-C422-BDC8-0C4970C1B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800" dirty="0"/>
              <a:t>The dataset contains online retail transactions used to analyse sales performance, products, customers, and international markets.</a:t>
            </a:r>
          </a:p>
          <a:p>
            <a:pPr marL="0" indent="0">
              <a:buNone/>
            </a:pPr>
            <a:r>
              <a:rPr lang="en-GB" sz="2000" b="1" i="1" u="sng" dirty="0"/>
              <a:t>Key  Dataset Statistics.</a:t>
            </a:r>
          </a:p>
          <a:p>
            <a:pPr marL="0" indent="0">
              <a:buNone/>
            </a:pPr>
            <a:r>
              <a:rPr lang="en-GB" sz="1800" b="1" i="1" dirty="0"/>
              <a:t>               Matric                                                                 Results</a:t>
            </a:r>
          </a:p>
          <a:p>
            <a:r>
              <a:rPr lang="en-GB" sz="1800" dirty="0"/>
              <a:t>Total cleaned records                                                       536,639</a:t>
            </a:r>
          </a:p>
          <a:p>
            <a:r>
              <a:rPr lang="en-GB" sz="1800" dirty="0"/>
              <a:t>Total invoices                                                                        25,898</a:t>
            </a:r>
          </a:p>
          <a:p>
            <a:r>
              <a:rPr lang="en-GB" sz="1800" dirty="0"/>
              <a:t>Uniques customers                                                           4,372</a:t>
            </a:r>
          </a:p>
          <a:p>
            <a:r>
              <a:rPr lang="en-GB" sz="1800" dirty="0"/>
              <a:t>Unique products                                                                4,070</a:t>
            </a:r>
          </a:p>
          <a:p>
            <a:r>
              <a:rPr lang="en-GB" sz="1800" dirty="0"/>
              <a:t>Countries represented                                                     38</a:t>
            </a:r>
          </a:p>
          <a:p>
            <a:r>
              <a:rPr lang="en-GB" sz="1800" dirty="0"/>
              <a:t>Total net sales value                                                         £9,748,131.07</a:t>
            </a:r>
          </a:p>
          <a:p>
            <a:pPr marL="0" indent="0">
              <a:buNone/>
            </a:pPr>
            <a:endParaRPr lang="en-GB" sz="1800" b="1" i="1" dirty="0"/>
          </a:p>
          <a:p>
            <a:pPr marL="0" indent="0">
              <a:buNone/>
            </a:pPr>
            <a:r>
              <a:rPr lang="en-GB" sz="1800" b="1" i="1" dirty="0"/>
              <a:t>Data Period: </a:t>
            </a:r>
            <a:r>
              <a:rPr lang="en-GB" sz="1800" i="1" dirty="0"/>
              <a:t>December 2010 – December 2011</a:t>
            </a:r>
          </a:p>
          <a:p>
            <a:pPr marL="0" indent="0">
              <a:buNone/>
            </a:pPr>
            <a:r>
              <a:rPr lang="en-GB" sz="1800" b="1" i="1" dirty="0"/>
              <a:t>Data Source: </a:t>
            </a:r>
            <a:r>
              <a:rPr lang="en-GB" sz="1800" i="1" dirty="0"/>
              <a:t>Kaggle – Online Retail Dataset</a:t>
            </a:r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79039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B934F-EDAD-65AB-9767-998EFE382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CLEANING AND PREPARATION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0BAE2-E545-3809-CBBC-7FED27F13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900" b="1" dirty="0"/>
              <a:t>Data Cleaning Activities</a:t>
            </a:r>
          </a:p>
          <a:p>
            <a:r>
              <a:rPr lang="en-GB" sz="1700" dirty="0"/>
              <a:t>Column Standardization: Standardized column names for easier analysis.</a:t>
            </a:r>
          </a:p>
          <a:p>
            <a:r>
              <a:rPr lang="en-GB" sz="1700" dirty="0"/>
              <a:t>Missing Values: Identified missing descriptions and customer IDs.</a:t>
            </a:r>
          </a:p>
          <a:p>
            <a:r>
              <a:rPr lang="en-GB" sz="1700" dirty="0"/>
              <a:t>Duplicate Removal: Removed duplicate records.</a:t>
            </a:r>
          </a:p>
          <a:p>
            <a:r>
              <a:rPr lang="en-GB" sz="1700" dirty="0"/>
              <a:t>Data Type Conversion: Converted invoice dates and numerical columns to appropriate data types.</a:t>
            </a:r>
          </a:p>
          <a:p>
            <a:r>
              <a:rPr lang="en-GB" sz="1700" dirty="0"/>
              <a:t>Invalid Records: Removed records with missing essential fields, zero quantities, or negative unit prices.</a:t>
            </a:r>
          </a:p>
          <a:p>
            <a:r>
              <a:rPr lang="en-GB" sz="1700" dirty="0"/>
              <a:t>Feature Engineering: Created </a:t>
            </a:r>
            <a:r>
              <a:rPr lang="en-GB" sz="1700" dirty="0" err="1"/>
              <a:t>SaleValue</a:t>
            </a:r>
            <a:r>
              <a:rPr lang="en-GB" sz="1700" dirty="0"/>
              <a:t>, </a:t>
            </a:r>
            <a:r>
              <a:rPr lang="en-GB" sz="1700" dirty="0" err="1"/>
              <a:t>IsCancelation</a:t>
            </a:r>
            <a:r>
              <a:rPr lang="en-GB" sz="1700" dirty="0"/>
              <a:t>, and </a:t>
            </a:r>
            <a:r>
              <a:rPr lang="en-GB" sz="1700" dirty="0" err="1"/>
              <a:t>YearMonth</a:t>
            </a:r>
            <a:r>
              <a:rPr lang="en-GB" sz="1700" dirty="0"/>
              <a:t> columns.</a:t>
            </a:r>
          </a:p>
          <a:p>
            <a:pPr marL="0" indent="0">
              <a:buNone/>
            </a:pPr>
            <a:endParaRPr lang="en-GB" sz="1800" b="1" dirty="0"/>
          </a:p>
          <a:p>
            <a:pPr marL="0" indent="0">
              <a:buNone/>
            </a:pPr>
            <a:r>
              <a:rPr lang="en-GB" sz="1900" b="1" dirty="0"/>
              <a:t>Final Result</a:t>
            </a:r>
          </a:p>
          <a:p>
            <a:r>
              <a:rPr lang="en-GB" sz="1700" dirty="0"/>
              <a:t>Cleaned dataset: 536,639.</a:t>
            </a:r>
          </a:p>
          <a:p>
            <a:r>
              <a:rPr lang="en-GB" sz="1700" dirty="0"/>
              <a:t>Duplicate records remaining: 0</a:t>
            </a:r>
          </a:p>
          <a:p>
            <a:r>
              <a:rPr lang="en-GB" sz="1700" dirty="0"/>
              <a:t>Original raw dataset preserved.</a:t>
            </a:r>
          </a:p>
          <a:p>
            <a:r>
              <a:rPr lang="en-GB" sz="1700" dirty="0"/>
              <a:t>Cleaned dataset saved separately as </a:t>
            </a:r>
            <a:r>
              <a:rPr lang="en-GB" sz="1700" b="1" i="1" dirty="0"/>
              <a:t>CleanedOnlineRetail.csv</a:t>
            </a:r>
          </a:p>
          <a:p>
            <a:endParaRPr lang="en-GH" sz="1600" dirty="0"/>
          </a:p>
        </p:txBody>
      </p:sp>
    </p:spTree>
    <p:extLst>
      <p:ext uri="{BB962C8B-B14F-4D97-AF65-F5344CB8AC3E}">
        <p14:creationId xmlns:p14="http://schemas.microsoft.com/office/powerpoint/2010/main" val="2589959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F8A6-E8D4-C394-61B0-9F3365EEC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MONTHLY SALES TREND AND GROWTH</a:t>
            </a:r>
            <a:endParaRPr lang="en-G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7E2C90-5816-F8DF-D94A-0116FB35B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14" y="1432335"/>
            <a:ext cx="8702676" cy="48701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213864-D845-7D67-A18F-DCC2B1E71982}"/>
              </a:ext>
            </a:extLst>
          </p:cNvPr>
          <p:cNvSpPr txBox="1"/>
          <p:nvPr/>
        </p:nvSpPr>
        <p:spPr>
          <a:xfrm>
            <a:off x="8996516" y="1710813"/>
            <a:ext cx="319548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H" sz="1400" b="1" dirty="0"/>
              <a:t>Key Findings</a:t>
            </a:r>
            <a:br>
              <a:rPr lang="en-GH" sz="1400" dirty="0"/>
            </a:br>
            <a:r>
              <a:rPr lang="en-GH" sz="1400" dirty="0"/>
              <a:t>• </a:t>
            </a:r>
            <a:r>
              <a:rPr lang="en-GH" sz="1400" b="1" dirty="0"/>
              <a:t>Highest Sales:</a:t>
            </a:r>
            <a:r>
              <a:rPr lang="en-GH" sz="1400" dirty="0"/>
              <a:t> November 2011 recorded net sales of </a:t>
            </a:r>
            <a:r>
              <a:rPr lang="en-GH" sz="1400" b="1" dirty="0"/>
              <a:t>£1,456,145.80</a:t>
            </a:r>
            <a:r>
              <a:rPr lang="en-GH" sz="1400" dirty="0"/>
              <a:t>.</a:t>
            </a:r>
            <a:br>
              <a:rPr lang="en-GH" sz="1400" dirty="0"/>
            </a:br>
            <a:r>
              <a:rPr lang="en-GH" sz="1400" dirty="0"/>
              <a:t>• </a:t>
            </a:r>
            <a:r>
              <a:rPr lang="en-GH" sz="1400" b="1" dirty="0"/>
              <a:t>Second-Highest Sales:</a:t>
            </a:r>
            <a:r>
              <a:rPr lang="en-GH" sz="1400" dirty="0"/>
              <a:t> October 2011 recorded </a:t>
            </a:r>
            <a:r>
              <a:rPr lang="en-GH" sz="1400" b="1" dirty="0"/>
              <a:t>£1,069,368.23</a:t>
            </a:r>
            <a:r>
              <a:rPr lang="en-GH" sz="1400" dirty="0"/>
              <a:t>.</a:t>
            </a:r>
            <a:br>
              <a:rPr lang="en-GH" sz="1400" dirty="0"/>
            </a:br>
            <a:r>
              <a:rPr lang="en-GH" sz="1400" dirty="0"/>
              <a:t>• </a:t>
            </a:r>
            <a:r>
              <a:rPr lang="en-GH" sz="1400" b="1" dirty="0"/>
              <a:t>Lowest Sales:</a:t>
            </a:r>
            <a:r>
              <a:rPr lang="en-GH" sz="1400" dirty="0"/>
              <a:t> December 2011 recorded </a:t>
            </a:r>
            <a:r>
              <a:rPr lang="en-GH" sz="1400" b="1" dirty="0"/>
              <a:t>£432,701.06</a:t>
            </a:r>
            <a:r>
              <a:rPr lang="en-GH" sz="1400" dirty="0"/>
              <a:t>.</a:t>
            </a:r>
            <a:br>
              <a:rPr lang="en-GH" sz="1400" dirty="0"/>
            </a:br>
            <a:r>
              <a:rPr lang="en-GH" sz="1400" dirty="0"/>
              <a:t>• </a:t>
            </a:r>
            <a:r>
              <a:rPr lang="en-GH" sz="1400" b="1" dirty="0"/>
              <a:t>Strong Growth:</a:t>
            </a:r>
            <a:r>
              <a:rPr lang="en-GH" sz="1400" dirty="0"/>
              <a:t> Sales increased by </a:t>
            </a:r>
            <a:r>
              <a:rPr lang="en-GH" sz="1400" b="1" dirty="0"/>
              <a:t>44.65% in September 2011</a:t>
            </a:r>
            <a:r>
              <a:rPr lang="en-GH" sz="1400" dirty="0"/>
              <a:t> compared with August.</a:t>
            </a:r>
            <a:br>
              <a:rPr lang="en-GH" sz="1400" dirty="0"/>
            </a:br>
            <a:r>
              <a:rPr lang="en-GH" sz="1400" dirty="0"/>
              <a:t>• </a:t>
            </a:r>
            <a:r>
              <a:rPr lang="en-GH" sz="1400" b="1" dirty="0"/>
              <a:t>Sharp Decline:</a:t>
            </a:r>
            <a:r>
              <a:rPr lang="en-GH" sz="1400" dirty="0"/>
              <a:t> Sales decreased by </a:t>
            </a:r>
            <a:r>
              <a:rPr lang="en-GH" sz="1400" b="1" dirty="0"/>
              <a:t>70.28% in December</a:t>
            </a:r>
            <a:r>
              <a:rPr lang="en-GH" sz="1400" dirty="0"/>
              <a:t> compared with November.</a:t>
            </a:r>
            <a:br>
              <a:rPr lang="en-GH" sz="1400" dirty="0"/>
            </a:br>
            <a:endParaRPr lang="en-GB" sz="1400" dirty="0"/>
          </a:p>
          <a:p>
            <a:r>
              <a:rPr lang="en-GH" sz="1400" b="1" dirty="0"/>
              <a:t>Business Interpretation</a:t>
            </a:r>
            <a:br>
              <a:rPr lang="en-GH" sz="1400" dirty="0"/>
            </a:br>
            <a:r>
              <a:rPr lang="en-GH" sz="1400" dirty="0"/>
              <a:t>November recorded the highest monthly sales in the dataset. However, the sharp December decline should be investigated further because the available data may not cover the entire month.</a:t>
            </a:r>
          </a:p>
        </p:txBody>
      </p:sp>
    </p:spTree>
    <p:extLst>
      <p:ext uri="{BB962C8B-B14F-4D97-AF65-F5344CB8AC3E}">
        <p14:creationId xmlns:p14="http://schemas.microsoft.com/office/powerpoint/2010/main" val="219762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1A26-D83E-0E36-1057-017D0A3C8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TOP 10 PRODUCTS BY SIGNED SALES VALUE </a:t>
            </a:r>
            <a:endParaRPr lang="en-G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5B673C-8BC4-D5C7-904A-584F9CFE9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20823"/>
            <a:ext cx="8652387" cy="51552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10E6A8-4387-5B6D-E06D-A637434C6C59}"/>
              </a:ext>
            </a:extLst>
          </p:cNvPr>
          <p:cNvSpPr txBox="1"/>
          <p:nvPr/>
        </p:nvSpPr>
        <p:spPr>
          <a:xfrm>
            <a:off x="8544232" y="1750142"/>
            <a:ext cx="364776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H" sz="1400" b="1" dirty="0"/>
              <a:t>Key Findings</a:t>
            </a:r>
            <a:br>
              <a:rPr lang="en-GH" sz="1400" dirty="0"/>
            </a:br>
            <a:r>
              <a:rPr lang="en-GH" sz="1400" dirty="0"/>
              <a:t>- DOTCOM POSTAGE recorded the highest net sales at £206,245.48.</a:t>
            </a:r>
            <a:br>
              <a:rPr lang="en-GH" sz="1400" dirty="0"/>
            </a:br>
            <a:r>
              <a:rPr lang="en-GH" sz="1400" dirty="0"/>
              <a:t>- Regency Cake Stand 3 Tier ranked second at £164,459.49.</a:t>
            </a:r>
            <a:br>
              <a:rPr lang="en-GH" sz="1400" dirty="0"/>
            </a:br>
            <a:r>
              <a:rPr lang="en-GH" sz="1400" dirty="0"/>
              <a:t>- Party Bunting generated £98,243.88 in net sales.</a:t>
            </a:r>
            <a:br>
              <a:rPr lang="en-GH" sz="1400" dirty="0"/>
            </a:br>
            <a:r>
              <a:rPr lang="en-GH" sz="1400" dirty="0"/>
              <a:t>- White Hanging Heart T-Light Holder generated £97,659.94.</a:t>
            </a:r>
            <a:br>
              <a:rPr lang="en-GH" sz="1400" dirty="0"/>
            </a:br>
            <a:r>
              <a:rPr lang="en-GH" sz="1400" dirty="0"/>
              <a:t>- Jumbo Bag Red </a:t>
            </a:r>
            <a:r>
              <a:rPr lang="en-GH" sz="1400" dirty="0" err="1"/>
              <a:t>Retrospot</a:t>
            </a:r>
            <a:r>
              <a:rPr lang="en-GH" sz="1400" dirty="0"/>
              <a:t> generated £92,175.79.</a:t>
            </a:r>
            <a:br>
              <a:rPr lang="en-GH" sz="1400" dirty="0"/>
            </a:br>
            <a:endParaRPr lang="en-GB" sz="1400" dirty="0"/>
          </a:p>
          <a:p>
            <a:r>
              <a:rPr lang="en-GH" sz="1400" b="1" dirty="0"/>
              <a:t>Business Insight</a:t>
            </a:r>
            <a:br>
              <a:rPr lang="en-GH" sz="1400" dirty="0"/>
            </a:br>
            <a:r>
              <a:rPr lang="en-GH" sz="1400" dirty="0"/>
              <a:t>Postage-related codes appear among the top sales entries. These should be analysed separately from physical retail products to provide a clearer picture of product performance.</a:t>
            </a:r>
            <a:br>
              <a:rPr lang="en-GH" sz="1400" dirty="0"/>
            </a:br>
            <a:endParaRPr lang="en-GB" sz="1400" dirty="0"/>
          </a:p>
          <a:p>
            <a:r>
              <a:rPr lang="en-GH" sz="1400" b="1" dirty="0"/>
              <a:t>Recommendation</a:t>
            </a:r>
            <a:br>
              <a:rPr lang="en-GH" sz="1400" dirty="0"/>
            </a:br>
            <a:r>
              <a:rPr lang="en-GH" sz="1400" dirty="0"/>
              <a:t>Monitor the sales performance of leading retail products and use the findings to support inventory planning.</a:t>
            </a:r>
          </a:p>
        </p:txBody>
      </p:sp>
    </p:spTree>
    <p:extLst>
      <p:ext uri="{BB962C8B-B14F-4D97-AF65-F5344CB8AC3E}">
        <p14:creationId xmlns:p14="http://schemas.microsoft.com/office/powerpoint/2010/main" val="3730138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8B16-BE4D-01F4-0873-6C602E9F5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TOP 10 COUNTRIES BY SIGNED SALES VALUE</a:t>
            </a:r>
            <a:endParaRPr lang="en-G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4476B7-4644-D4DE-73CE-EEB44D321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6631"/>
            <a:ext cx="8702676" cy="50913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4DFAA2-9B0E-173F-23B0-C8D190871B1C}"/>
              </a:ext>
            </a:extLst>
          </p:cNvPr>
          <p:cNvSpPr txBox="1"/>
          <p:nvPr/>
        </p:nvSpPr>
        <p:spPr>
          <a:xfrm>
            <a:off x="8613058" y="1533832"/>
            <a:ext cx="35789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H" sz="1600" b="1" dirty="0"/>
              <a:t>Key Findings</a:t>
            </a:r>
            <a:br>
              <a:rPr lang="en-GH" sz="1600" dirty="0"/>
            </a:br>
            <a:r>
              <a:rPr lang="en-GH" sz="1600" dirty="0"/>
              <a:t>- The United Kingdom recorded the highest net sales of £8,189,252.30.</a:t>
            </a:r>
            <a:br>
              <a:rPr lang="en-GH" sz="1600" dirty="0"/>
            </a:br>
            <a:r>
              <a:rPr lang="en-GH" sz="1600" dirty="0"/>
              <a:t>- The Netherlands ranked second at £284,661.54.</a:t>
            </a:r>
            <a:br>
              <a:rPr lang="en-GH" sz="1600" dirty="0"/>
            </a:br>
            <a:r>
              <a:rPr lang="en-GH" sz="1600" dirty="0"/>
              <a:t>- EIRE (Ireland) recorded £262,993.38.</a:t>
            </a:r>
            <a:br>
              <a:rPr lang="en-GH" sz="1600" dirty="0"/>
            </a:br>
            <a:r>
              <a:rPr lang="en-GH" sz="1600" dirty="0"/>
              <a:t>- Germany generated £221,509.47.</a:t>
            </a:r>
            <a:br>
              <a:rPr lang="en-GH" sz="1600" dirty="0"/>
            </a:br>
            <a:r>
              <a:rPr lang="en-GH" sz="1600" dirty="0"/>
              <a:t>- France generated £197,317.11.</a:t>
            </a:r>
            <a:br>
              <a:rPr lang="en-GH" sz="1600" dirty="0"/>
            </a:br>
            <a:endParaRPr lang="en-GB" sz="1600" dirty="0"/>
          </a:p>
          <a:p>
            <a:r>
              <a:rPr lang="en-GH" sz="1600" b="1" dirty="0"/>
              <a:t>Business Insight</a:t>
            </a:r>
            <a:br>
              <a:rPr lang="en-GH" sz="1600" dirty="0"/>
            </a:br>
            <a:r>
              <a:rPr lang="en-GH" sz="1600" dirty="0"/>
              <a:t>The United Kingdom contributed approximately 84% of total net sales, indicating a strong concentration of sales in one market.</a:t>
            </a:r>
            <a:br>
              <a:rPr lang="en-GH" sz="1600" dirty="0"/>
            </a:br>
            <a:endParaRPr lang="en-GB" sz="1600" dirty="0"/>
          </a:p>
          <a:p>
            <a:r>
              <a:rPr lang="en-GH" sz="1600" b="1" dirty="0"/>
              <a:t>Recommendation</a:t>
            </a:r>
            <a:br>
              <a:rPr lang="en-GH" sz="1600" dirty="0"/>
            </a:br>
            <a:r>
              <a:rPr lang="en-GH" sz="1600" dirty="0"/>
              <a:t>Protect the performance of the UK market while investigating opportunities to grow sales in other countries.</a:t>
            </a:r>
          </a:p>
        </p:txBody>
      </p:sp>
    </p:spTree>
    <p:extLst>
      <p:ext uri="{BB962C8B-B14F-4D97-AF65-F5344CB8AC3E}">
        <p14:creationId xmlns:p14="http://schemas.microsoft.com/office/powerpoint/2010/main" val="729637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E510-217E-040E-47C2-DB86D31B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AVERAGE ORDER VALUE AND HIGH-VALUE INVOICE==</a:t>
            </a:r>
            <a:r>
              <a:rPr lang="en-GB" b="1" dirty="0"/>
              <a:t>ORDER VALUE ANALYSIS</a:t>
            </a:r>
            <a:br>
              <a:rPr lang="en-GB" b="1" dirty="0"/>
            </a:b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B3465-8185-B2C1-0BF3-97E865678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800" b="1" dirty="0"/>
              <a:t>AVERAGE ORDER VALUE</a:t>
            </a:r>
          </a:p>
          <a:p>
            <a:pPr marL="0" indent="0" algn="ctr">
              <a:buNone/>
            </a:pPr>
            <a:r>
              <a:rPr lang="en-GB" sz="2400" b="1" dirty="0"/>
              <a:t>   £533.10</a:t>
            </a:r>
          </a:p>
          <a:p>
            <a:pPr marL="0" indent="0">
              <a:buNone/>
            </a:pPr>
            <a:r>
              <a:rPr lang="en-GB" sz="1600" dirty="0"/>
              <a:t>Calculated from 19,960 positive-invoices, excluding cancellation under the method used in our analysis.</a:t>
            </a:r>
          </a:p>
          <a:p>
            <a:pPr marL="0" indent="0" algn="ctr">
              <a:buNone/>
            </a:pPr>
            <a:r>
              <a:rPr lang="en-GB" sz="1800" b="1" dirty="0"/>
              <a:t>HIGHEST-VALUE INVOICE</a:t>
            </a:r>
          </a:p>
          <a:p>
            <a:pPr marL="0" indent="0" algn="ctr">
              <a:buNone/>
            </a:pPr>
            <a:r>
              <a:rPr lang="en-GB" sz="1600" b="1" dirty="0"/>
              <a:t>        </a:t>
            </a:r>
            <a:r>
              <a:rPr lang="en-GB" sz="2000" b="1" dirty="0"/>
              <a:t>Invoice 581483: £168,469.60</a:t>
            </a:r>
          </a:p>
          <a:p>
            <a:pPr marL="0" indent="0">
              <a:buNone/>
            </a:pPr>
            <a:r>
              <a:rPr lang="en-GB" sz="1600" dirty="0"/>
              <a:t>One transaction row recorded 80,995 units at £2.08 each.</a:t>
            </a:r>
          </a:p>
          <a:p>
            <a:pPr marL="0" indent="0" algn="ctr">
              <a:buNone/>
            </a:pPr>
            <a:r>
              <a:rPr lang="en-GH" sz="1600" b="1" dirty="0"/>
              <a:t>Business Insight</a:t>
            </a:r>
            <a:br>
              <a:rPr lang="en-GH" sz="1600" dirty="0"/>
            </a:br>
            <a:br>
              <a:rPr lang="en-GH" sz="1600" dirty="0"/>
            </a:br>
            <a:r>
              <a:rPr lang="en-GH" sz="1600" dirty="0"/>
              <a:t>The average order value provides a useful measure of the value of a typical order under the selected calculation method. Invoice 581483 is unusually large and may significantly affect summary statistics.</a:t>
            </a:r>
            <a:br>
              <a:rPr lang="en-GH" sz="1600" dirty="0"/>
            </a:br>
            <a:br>
              <a:rPr lang="en-GH" sz="1600" dirty="0"/>
            </a:br>
            <a:r>
              <a:rPr lang="en-GH" sz="1600" b="1" dirty="0"/>
              <a:t>Recommendation</a:t>
            </a:r>
            <a:br>
              <a:rPr lang="en-GH" sz="1600" dirty="0"/>
            </a:br>
            <a:br>
              <a:rPr lang="en-GH" sz="1600" dirty="0"/>
            </a:br>
            <a:r>
              <a:rPr lang="en-GH" sz="1600" dirty="0"/>
              <a:t>Investigate the unusually high-value invoice, including its customer and product details, before deciding whether it represents a typical transaction or requires further validation.</a:t>
            </a:r>
            <a:endParaRPr lang="en-GB" sz="1600" dirty="0"/>
          </a:p>
          <a:p>
            <a:pPr marL="0" indent="0"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55853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58555-C772-E04C-8D30-C7D3C6DA1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BUSINESS INSIGHTS AND RECOMMENDATIONS.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1FC9B-D63F-8FDB-6F54-5E42D490C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H" sz="1400" b="1" dirty="0"/>
              <a:t>1. Sales Concentration</a:t>
            </a:r>
            <a:br>
              <a:rPr lang="en-GH" sz="1400" dirty="0"/>
            </a:br>
            <a:br>
              <a:rPr lang="en-GH" sz="1400" dirty="0"/>
            </a:br>
            <a:r>
              <a:rPr lang="en-GH" sz="1400" dirty="0"/>
              <a:t>The UK accounts for approximately 84% of total net sales.</a:t>
            </a:r>
            <a:br>
              <a:rPr lang="en-GH" sz="1400" dirty="0"/>
            </a:br>
            <a:br>
              <a:rPr lang="en-GH" sz="1400" dirty="0"/>
            </a:br>
            <a:r>
              <a:rPr lang="en-GH" sz="1400" b="1" u="sng" dirty="0"/>
              <a:t>Recommendation: </a:t>
            </a:r>
            <a:r>
              <a:rPr lang="en-GH" sz="1400" dirty="0"/>
              <a:t>Explore growth opportunities in other markets while protecting UK performance.</a:t>
            </a:r>
            <a:br>
              <a:rPr lang="en-GH" sz="1400" dirty="0"/>
            </a:br>
            <a:br>
              <a:rPr lang="en-GH" sz="1400" b="1" dirty="0"/>
            </a:br>
            <a:r>
              <a:rPr lang="en-GH" sz="1400" b="1" dirty="0"/>
              <a:t>2. Monthly Sales Performance</a:t>
            </a:r>
            <a:br>
              <a:rPr lang="en-GH" sz="1400" dirty="0"/>
            </a:br>
            <a:br>
              <a:rPr lang="en-GH" sz="1400" dirty="0"/>
            </a:br>
            <a:r>
              <a:rPr lang="en-GH" sz="1400" dirty="0"/>
              <a:t>November 2011 recorded the highest monthly net sales at £1.46 million.</a:t>
            </a:r>
            <a:br>
              <a:rPr lang="en-GH" sz="1400" dirty="0"/>
            </a:br>
            <a:br>
              <a:rPr lang="en-GH" sz="1400" dirty="0"/>
            </a:br>
            <a:r>
              <a:rPr lang="en-GH" sz="1400" b="1" u="sng" dirty="0"/>
              <a:t>Recommendation: </a:t>
            </a:r>
            <a:r>
              <a:rPr lang="en-GH" sz="1400" dirty="0"/>
              <a:t>Investigate the factors behind November's strong performance.</a:t>
            </a:r>
            <a:br>
              <a:rPr lang="en-GH" sz="1400" dirty="0"/>
            </a:br>
            <a:br>
              <a:rPr lang="en-GH" sz="1400" dirty="0"/>
            </a:br>
            <a:r>
              <a:rPr lang="en-GH" sz="1400" b="1" dirty="0"/>
              <a:t>3. Product Performance</a:t>
            </a:r>
            <a:br>
              <a:rPr lang="en-GH" sz="1400" dirty="0"/>
            </a:br>
            <a:br>
              <a:rPr lang="en-GH" sz="1400" dirty="0"/>
            </a:br>
            <a:r>
              <a:rPr lang="en-GH" sz="1400" dirty="0"/>
              <a:t>Postage-related codes appear among the leading sales entries.</a:t>
            </a:r>
            <a:br>
              <a:rPr lang="en-GH" sz="1400" dirty="0"/>
            </a:br>
            <a:br>
              <a:rPr lang="en-GH" sz="1400" dirty="0"/>
            </a:br>
            <a:r>
              <a:rPr lang="en-GH" sz="1400" b="1" u="sng" dirty="0"/>
              <a:t>Recommendation: </a:t>
            </a:r>
            <a:r>
              <a:rPr lang="en-GH" sz="1400" dirty="0"/>
              <a:t>Analyse postage separately from physical products.</a:t>
            </a:r>
            <a:br>
              <a:rPr lang="en-GH" sz="1400" dirty="0"/>
            </a:br>
            <a:br>
              <a:rPr lang="en-GH" sz="1400" b="1" dirty="0"/>
            </a:br>
            <a:r>
              <a:rPr lang="en-GH" sz="1400" b="1" dirty="0"/>
              <a:t>4. Order Value</a:t>
            </a:r>
            <a:br>
              <a:rPr lang="en-GH" sz="1400" b="1" dirty="0"/>
            </a:br>
            <a:br>
              <a:rPr lang="en-GH" sz="1400" dirty="0"/>
            </a:br>
            <a:r>
              <a:rPr lang="en-GH" sz="1400" dirty="0"/>
              <a:t>The calculated average order value was £533.10.</a:t>
            </a:r>
            <a:br>
              <a:rPr lang="en-GH" sz="1400" dirty="0"/>
            </a:br>
            <a:br>
              <a:rPr lang="en-GH" sz="1400" dirty="0"/>
            </a:br>
            <a:r>
              <a:rPr lang="en-GH" sz="1400" b="1" u="sng" dirty="0"/>
              <a:t>Recommendation: </a:t>
            </a:r>
            <a:r>
              <a:rPr lang="en-GH" sz="1400" dirty="0"/>
              <a:t>Study customer purchasing patterns to identify opportunities to increase order value.</a:t>
            </a:r>
            <a:br>
              <a:rPr lang="en-GH" sz="1400" dirty="0"/>
            </a:br>
            <a:br>
              <a:rPr lang="en-GH" sz="1400" dirty="0"/>
            </a:br>
            <a:r>
              <a:rPr lang="en-GH" sz="1400" b="1" dirty="0"/>
              <a:t>5. Unusually Large Transaction</a:t>
            </a:r>
            <a:br>
              <a:rPr lang="en-GH" sz="1400" dirty="0"/>
            </a:br>
            <a:br>
              <a:rPr lang="en-GH" sz="1400" dirty="0"/>
            </a:br>
            <a:r>
              <a:rPr lang="en-GH" sz="1400" dirty="0"/>
              <a:t>Invoice 581483 recorded £168,469.60 in net sales value.</a:t>
            </a:r>
            <a:br>
              <a:rPr lang="en-GH" sz="1400" dirty="0"/>
            </a:br>
            <a:br>
              <a:rPr lang="en-GH" sz="1400" dirty="0"/>
            </a:br>
            <a:r>
              <a:rPr lang="en-GH" sz="1400" b="1" u="sng" dirty="0"/>
              <a:t>Recommendation: </a:t>
            </a:r>
            <a:r>
              <a:rPr lang="en-GH" sz="1400" dirty="0"/>
              <a:t>Validate the transaction and examine its effect on the analysis.</a:t>
            </a:r>
          </a:p>
        </p:txBody>
      </p:sp>
    </p:spTree>
    <p:extLst>
      <p:ext uri="{BB962C8B-B14F-4D97-AF65-F5344CB8AC3E}">
        <p14:creationId xmlns:p14="http://schemas.microsoft.com/office/powerpoint/2010/main" val="1391911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168ED-8483-BB56-E33C-FE4EEBE90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 AND NEXT STEPS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46AEA-95EE-A88E-03D4-C9CAF4A35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89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H" b="1" dirty="0"/>
              <a:t>Conclusion</a:t>
            </a:r>
            <a:br>
              <a:rPr lang="en-GH" dirty="0"/>
            </a:br>
            <a:br>
              <a:rPr lang="en-GH" dirty="0"/>
            </a:br>
            <a:r>
              <a:rPr lang="en-GH" dirty="0"/>
              <a:t>This project used Python, Pandas, and SQL to clean, analyse, and validate an online retail transaction dataset containing 536,639 cleaned records.</a:t>
            </a:r>
            <a:br>
              <a:rPr lang="en-GH" dirty="0"/>
            </a:br>
            <a:br>
              <a:rPr lang="en-GH" dirty="0"/>
            </a:br>
            <a:r>
              <a:rPr lang="en-GH" dirty="0"/>
              <a:t>The analysis identified major sales markets, leading sales entries, monthly sales movements, average order value, and an unusually large invoice requiring further investigation.</a:t>
            </a:r>
            <a:br>
              <a:rPr lang="en-GH" dirty="0"/>
            </a:br>
            <a:br>
              <a:rPr lang="en-GH" dirty="0"/>
            </a:br>
            <a:r>
              <a:rPr lang="en-GH" b="1" dirty="0"/>
              <a:t>Key Takeaways</a:t>
            </a:r>
            <a:br>
              <a:rPr lang="en-GH" dirty="0"/>
            </a:br>
            <a:br>
              <a:rPr lang="en-GH" dirty="0"/>
            </a:br>
            <a:r>
              <a:rPr lang="en-GH" dirty="0"/>
              <a:t>- Data cleaning improves the reliability of analysis.</a:t>
            </a:r>
            <a:br>
              <a:rPr lang="en-GH" dirty="0"/>
            </a:br>
            <a:r>
              <a:rPr lang="en-GH" dirty="0"/>
              <a:t>- Python and SQL can be used together to analyse and validate results.</a:t>
            </a:r>
            <a:br>
              <a:rPr lang="en-GH" dirty="0"/>
            </a:br>
            <a:r>
              <a:rPr lang="en-GH" dirty="0"/>
              <a:t>- Visualizations help communicate business performance.</a:t>
            </a:r>
            <a:br>
              <a:rPr lang="en-GH" dirty="0"/>
            </a:br>
            <a:r>
              <a:rPr lang="en-GH" dirty="0"/>
              <a:t>- Business recommendations should be based on evidence and further validation where necessary.</a:t>
            </a:r>
            <a:br>
              <a:rPr lang="en-GH" dirty="0"/>
            </a:br>
            <a:br>
              <a:rPr lang="en-GH" dirty="0"/>
            </a:br>
            <a:r>
              <a:rPr lang="en-GH" b="1" dirty="0"/>
              <a:t>Next Steps</a:t>
            </a:r>
            <a:br>
              <a:rPr lang="en-GH" dirty="0"/>
            </a:br>
            <a:br>
              <a:rPr lang="en-GH" dirty="0"/>
            </a:br>
            <a:r>
              <a:rPr lang="en-GH" dirty="0"/>
              <a:t>- Investigate unusually large transactions.</a:t>
            </a:r>
            <a:br>
              <a:rPr lang="en-GH" dirty="0"/>
            </a:br>
            <a:r>
              <a:rPr lang="en-GH" dirty="0"/>
              <a:t>- Verify the completeness of December 2011 data.</a:t>
            </a:r>
            <a:br>
              <a:rPr lang="en-GH" dirty="0"/>
            </a:br>
            <a:r>
              <a:rPr lang="en-GH" dirty="0"/>
              <a:t>- Analyse postage separately from retail products.</a:t>
            </a:r>
            <a:br>
              <a:rPr lang="en-GH" dirty="0"/>
            </a:br>
            <a:r>
              <a:rPr lang="en-GH" dirty="0"/>
              <a:t>- Prepare the final business report and project files for portfolio sharing.</a:t>
            </a:r>
          </a:p>
        </p:txBody>
      </p:sp>
    </p:spTree>
    <p:extLst>
      <p:ext uri="{BB962C8B-B14F-4D97-AF65-F5344CB8AC3E}">
        <p14:creationId xmlns:p14="http://schemas.microsoft.com/office/powerpoint/2010/main" val="4127133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9A68BC-4FD6-D5AF-9544-114B37E3F452}"/>
              </a:ext>
            </a:extLst>
          </p:cNvPr>
          <p:cNvSpPr txBox="1"/>
          <p:nvPr/>
        </p:nvSpPr>
        <p:spPr>
          <a:xfrm>
            <a:off x="-560438" y="0"/>
            <a:ext cx="12192000" cy="984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sz="8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anose="030303020407070D0804" pitchFamily="66" charset="0"/>
              </a:rPr>
              <a:t>Thank You 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sz="2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GB" sz="2800" i="1" dirty="0"/>
          </a:p>
          <a:p>
            <a:pPr algn="ctr"/>
            <a:endParaRPr lang="en-GB" sz="2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GB" sz="28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AnalystLab</a:t>
            </a:r>
            <a:r>
              <a:rPr lang="en-GB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Africa Data Analytics Internship Program</a:t>
            </a:r>
          </a:p>
          <a:p>
            <a:pPr algn="ctr"/>
            <a:endParaRPr lang="en-GB" sz="2800" i="1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593866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1092</Words>
  <Application>Microsoft Office PowerPoint</Application>
  <PresentationFormat>Widescreen</PresentationFormat>
  <Paragraphs>93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ONLINE RETAIL DATA ANALYSIS.</vt:lpstr>
      <vt:lpstr>PROJECT OVERVIEW AND OBJECTIVES</vt:lpstr>
      <vt:lpstr>DATASET OVERVIEW</vt:lpstr>
      <vt:lpstr>DATA CLEANING AND PREPARATION</vt:lpstr>
      <vt:lpstr>MONTHLY SALES TREND AND GROWTH</vt:lpstr>
      <vt:lpstr>TOP 10 PRODUCTS BY SIGNED SALES VALUE </vt:lpstr>
      <vt:lpstr>TOP 10 COUNTRIES BY SIGNED SALES VALUE</vt:lpstr>
      <vt:lpstr>AVERAGE ORDER VALUE AND HIGH-VALUE INVOICE==ORDER VALUE ANALYSIS </vt:lpstr>
      <vt:lpstr>KEY BUSINESS INSIGHTS AND RECOMMENDATIONS.</vt:lpstr>
      <vt:lpstr>CONCLUSION AND 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Promise Quainoo</dc:creator>
  <cp:lastModifiedBy>Promise Quainoo</cp:lastModifiedBy>
  <cp:revision>1</cp:revision>
  <dcterms:created xsi:type="dcterms:W3CDTF">2026-10-19T21:09:10Z</dcterms:created>
  <dcterms:modified xsi:type="dcterms:W3CDTF">2026-10-20T02:09:43Z</dcterms:modified>
</cp:coreProperties>
</file>